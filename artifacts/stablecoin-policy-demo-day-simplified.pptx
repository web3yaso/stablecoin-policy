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a8d8943b6854ed3" /><Relationship Type="http://schemas.openxmlformats.org/officeDocument/2006/relationships/extended-properties" Target="/docProps/app.xml" Id="R6bcd548368f44a1a" /><Relationship Type="http://schemas.openxmlformats.org/officeDocument/2006/relationships/officeDocument" Target="/ppt/presentation.xml" Id="R91987183f3ae4c9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52e3b49563d4aef"/>
  </p:sldMasterIdLst>
  <p:notesMasterIdLst>
    <p:notesMasterId xmlns:r="http://schemas.openxmlformats.org/officeDocument/2006/relationships" r:id="R45b9d2c7c6684a85"/>
  </p:notesMasterIdLst>
  <p:sldIdLst>
    <p:sldId xmlns:r="http://schemas.openxmlformats.org/officeDocument/2006/relationships" id="256" r:id="Raa31ee3701b34052"/>
    <p:sldId xmlns:r="http://schemas.openxmlformats.org/officeDocument/2006/relationships" id="257" r:id="Re5deb89e09d5456c"/>
    <p:sldId xmlns:r="http://schemas.openxmlformats.org/officeDocument/2006/relationships" id="258" r:id="R61ef4b2f79a54453"/>
    <p:sldId xmlns:r="http://schemas.openxmlformats.org/officeDocument/2006/relationships" id="259" r:id="R7cc01d665f9c4a4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47c18d1f70741c5" /><Relationship Type="http://schemas.openxmlformats.org/officeDocument/2006/relationships/slideMaster" Target="/ppt/slideMasters/slideMaster1.xml" Id="R752e3b49563d4aef" /><Relationship Type="http://schemas.openxmlformats.org/officeDocument/2006/relationships/notesMaster" Target="/ppt/notesMasters/notesMaster1.xml" Id="R45b9d2c7c6684a85" /><Relationship Type="http://schemas.openxmlformats.org/officeDocument/2006/relationships/presProps" Target="/ppt/presProps.xml" Id="Rbdc61417521b4f39" /><Relationship Type="http://schemas.openxmlformats.org/officeDocument/2006/relationships/tableStyles" Target="/ppt/tableStyles.xml" Id="R260e1e970efe4390" /><Relationship Type="http://schemas.openxmlformats.org/officeDocument/2006/relationships/slide" Target="/ppt/slides/slide1.xml" Id="Raa31ee3701b34052" /><Relationship Type="http://schemas.openxmlformats.org/officeDocument/2006/relationships/slide" Target="/ppt/slides/slide2.xml" Id="Re5deb89e09d5456c" /><Relationship Type="http://schemas.openxmlformats.org/officeDocument/2006/relationships/slide" Target="/ppt/slides/slide3.xml" Id="R61ef4b2f79a54453" /><Relationship Type="http://schemas.openxmlformats.org/officeDocument/2006/relationships/slide" Target="/ppt/slides/slide4.xml" Id="R7cc01d665f9c4a4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085215f84214b7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fa37b21fdd548c0" /><Relationship Type="http://schemas.openxmlformats.org/officeDocument/2006/relationships/notesMaster" Target="/ppt/notesMasters/notesMaster1.xml" Id="Rd7fa227e31cb4d5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e77b1eb9fa04f32" /><Relationship Type="http://schemas.openxmlformats.org/officeDocument/2006/relationships/notesMaster" Target="/ppt/notesMasters/notesMaster1.xml" Id="R07b2e66fdb4540a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e2ec977caf64e29" /><Relationship Type="http://schemas.openxmlformats.org/officeDocument/2006/relationships/notesMaster" Target="/ppt/notesMasters/notesMaster1.xml" Id="R6141a8d2c48c430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33c5369bb694f78" /><Relationship Type="http://schemas.openxmlformats.org/officeDocument/2006/relationships/notesMaster" Target="/ppt/notesMasters/notesMaster1.xml" Id="Rfd68da9e365e4a2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开场不要先讲功能。先说：AI 产品从第一天就是全球的，stablecoin 让收款也变成 day-one global；但监管边界并不会自动变简单。一个小团队在没有 compliance team 时，也必须决定能不能收、能不能托管、能不能上架、要不要牌照。Stablecoin Policy 的价值，是把动态监管信息变成带来源、版本和行动项的 playbook。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docs/PROJECT_CONTEXT.md</a:t>
            </a:r>
          </a:p>
          <a:p xmlns:a="http://schemas.openxmlformats.org/drawingml/2006/main">
            <a:r>
              <a:t>- docs/citely-product-family-boundary.md</a:t>
            </a:r>
          </a:p>
          <a:p xmlns:a="http://schemas.openxmlformats.org/drawingml/2006/main">
            <a:r>
              <a:t>- docs/superpowers/specs/2026-07-30-stablecoin-pre-listing-check-design.md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这里强调职责边界。Citely 是薄客户端：登录、付费、表单和渲染。Stablecoin Policy Agent 才拥有稳定币领域的数据、规则、证据和监控。用户确认信息后，Citely 用签名的 server-to-server 请求调用 domain API，拿回不可变的 PlaybookPackage。下面的数据链路说明：自动化可以摄取和交叉检查，但 human-reviewed 只能经过显式的人审 gate；系统不会把机器结果包装成法律意见。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docs/citely-product-family-boundary.md</a:t>
            </a:r>
          </a:p>
          <a:p xmlns:a="http://schemas.openxmlformats.org/drawingml/2006/main">
            <a:r>
              <a:t>- docs/citely-integration.md</a:t>
            </a:r>
          </a:p>
          <a:p xmlns:a="http://schemas.openxmlformats.org/drawingml/2006/main">
            <a:r>
              <a:t>- docs/PROJECT_CONTEXT.md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这一页播放录屏时，按这条路径走：选择 Stablecoin Pre-listing；输入 Singapore、EEA、USDC、Base/Ethereum、listing 和 custody；运行后先展示 capability-level 的两个 CONDITIONAL 结论，再点开 action 和 evidence。最后指出 Article 59、dossier、corpus/rules/template 版本和 PROVISIONAL 标签。核心句：RAG 帮助解释证据，但不能改变 deterministic decision。若要嵌入视频，可把整块浏览器视窗替换为 MP4，保留标题和右上角标签。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contracts/fixtures/citely/v1/stablecoin-pre-listing-success.request.json</a:t>
            </a:r>
          </a:p>
          <a:p xmlns:a="http://schemas.openxmlformats.org/drawingml/2006/main">
            <a:r>
              <a:t>- contracts/fixtures/citely/v1/stablecoin-pre-listing-success.response.json</a:t>
            </a:r>
          </a:p>
          <a:p xmlns:a="http://schemas.openxmlformats.org/drawingml/2006/main">
            <a:r>
              <a:t>- docs/citely-integration.md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最后不要用功能清单收尾，而是把 Stablecoin Policy 解释成切入口。先证明同一套 source-backed、versioned、reviewed 的基础设施能解决稳定币这个高频而复杂的场景；下一步复制的是 domain contract，不是复制一套新后端。AI Policy 和 Web3 Policy 都可以成为独立的 policy agent，最后在 Citely 里形成同一个 playbook marketplace：一个创业者画像，多个领域判断，一个行动空间。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docs/citely-product-family-boundary.md</a:t>
            </a:r>
          </a:p>
          <a:p xmlns:a="http://schemas.openxmlformats.org/drawingml/2006/main">
            <a:r>
              <a:t>- docs/PROJECT_CONTEXT.md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dd150d5b5c24d2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e806bf4e76d492e" /><Relationship Type="http://schemas.openxmlformats.org/officeDocument/2006/relationships/slideLayout" Target="/ppt/slideLayouts/slideLayout1.xml" Id="R97589378cdd646a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7589378cdd646a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7833b39e774979" /><Relationship Type="http://schemas.openxmlformats.org/officeDocument/2006/relationships/notesSlide" Target="/ppt/notesSlides/notesSlide1.xml" Id="R31572327e6f0488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f3ba18760c45c3" /><Relationship Type="http://schemas.openxmlformats.org/officeDocument/2006/relationships/notesSlide" Target="/ppt/notesSlides/notesSlide2.xml" Id="Rb7390d7b599b488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26c710203848ec" /><Relationship Type="http://schemas.openxmlformats.org/officeDocument/2006/relationships/notesSlide" Target="/ppt/notesSlides/notesSlide3.xml" Id="Rd0047c1c7f0b40c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945912663340cd" /><Relationship Type="http://schemas.openxmlformats.org/officeDocument/2006/relationships/notesSlide" Target="/ppt/notesSlides/notesSlide4.xml" Id="Ra3828b641899443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brand-1">
            <a:extLst xmlns:a="http://schemas.openxmlformats.org/drawingml/2006/main">
              <a:ext uri="{FF2B5EF4-FFF2-40B4-BE49-F238E27FC236}">
                <a16:creationId xmlns:a16="http://schemas.microsoft.com/office/drawing/2014/main" id="{D8393DFF-2F20-43BA-BAFD-573C1413C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0500"/>
            <a:ext cx="2781300" cy="3238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CITELY  ×  STABLECOIN POLICY</a:t>
            </a:r>
          </a:p>
        </p:txBody>
      </p:sp>
      <p:sp>
        <p:nvSpPr>
          <p:cNvPr id="2" name="section-1">
            <a:extLst xmlns:a="http://schemas.openxmlformats.org/drawingml/2006/main">
              <a:ext uri="{FF2B5EF4-FFF2-40B4-BE49-F238E27FC236}">
                <a16:creationId xmlns:a16="http://schemas.microsoft.com/office/drawing/2014/main" id="{07D8A447-9ED3-4287-82B9-C027ACE18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6670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200" b="1">
                <a:solidFill>
                  <a:srgbClr val="7C849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7C8493"/>
                </a:solidFill>
                <a:latin typeface="Helvetica Neue"/>
                <a:ea typeface="Helvetica Neue"/>
                <a:cs typeface="Helvetica Neue"/>
              </a:rPr>
              <a:t>THE PROBLEM</a:t>
            </a:r>
          </a:p>
        </p:txBody>
      </p:sp>
      <p:sp>
        <p:nvSpPr>
          <p:cNvPr id="3" name="page-1">
            <a:extLst xmlns:a="http://schemas.openxmlformats.org/drawingml/2006/main">
              <a:ext uri="{FF2B5EF4-FFF2-40B4-BE49-F238E27FC236}">
                <a16:creationId xmlns:a16="http://schemas.microsoft.com/office/drawing/2014/main" id="{4F5B44BE-5D05-4A4F-BDD0-FE07A0F72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26670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200" b="0">
                <a:solidFill>
                  <a:srgbClr val="7C849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7C8493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5" name="problem-title">
            <a:extLst xmlns:a="http://schemas.openxmlformats.org/drawingml/2006/main">
              <a:ext uri="{FF2B5EF4-FFF2-40B4-BE49-F238E27FC236}">
                <a16:creationId xmlns:a16="http://schemas.microsoft.com/office/drawing/2014/main" id="{14A39E4B-D481-4D9C-BB81-FAE524D6C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95450"/>
            <a:ext cx="10668000" cy="198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 algn="l">
              <a:buNone/>
              <a:defRPr sz="4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4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Stablecoins make revenue</a:t>
            </a:r>
          </a:p>
          <a:p xmlns:a="http://schemas.openxmlformats.org/drawingml/2006/main">
            <a:pPr algn="l">
              <a:buNone/>
              <a:defRPr sz="4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4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day-one global.</a:t>
            </a:r>
          </a:p>
        </p:txBody>
      </p:sp>
      <p:sp>
        <p:nvSpPr>
          <p:cNvPr id="6" name="problem-contrast">
            <a:extLst xmlns:a="http://schemas.openxmlformats.org/drawingml/2006/main">
              <a:ext uri="{FF2B5EF4-FFF2-40B4-BE49-F238E27FC236}">
                <a16:creationId xmlns:a16="http://schemas.microsoft.com/office/drawing/2014/main" id="{8AEB87C7-F9FD-4392-BAA1-387848D5A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90525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46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46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Regulation does not.</a:t>
            </a:r>
          </a:p>
        </p:txBody>
      </p:sp>
    </p:spTree>
    <p:extLst>
      <p:ext uri="{BB962C8B-B14F-4D97-AF65-F5344CB8AC3E}">
        <p14:creationId xmlns:p14="http://schemas.microsoft.com/office/powerpoint/2010/main" val="114742538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architecture-title">
            <a:extLst xmlns:a="http://schemas.openxmlformats.org/drawingml/2006/main">
              <a:ext uri="{FF2B5EF4-FFF2-40B4-BE49-F238E27FC236}">
                <a16:creationId xmlns:a16="http://schemas.microsoft.com/office/drawing/2014/main" id="{65EF4F75-2B72-467A-AC31-773144C09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810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Citely handles the customer. Stablecoin Policy handles the domain.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1128EC-FB58-4E17-A0D3-BF5EB3674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428875"/>
            <a:ext cx="8382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C29D8A-C482-4BFB-884A-305D7B718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6057900" y="3190875"/>
            <a:ext cx="8382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A72B94-2450-4041-BB2D-6228CA63C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5562600"/>
            <a:ext cx="3810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5A7824-A6FD-42EB-9F2A-4B230096A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5562600"/>
            <a:ext cx="3810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039A10-6A06-44C8-82FB-33B25E699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562600"/>
            <a:ext cx="3810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8D7684-98C7-4666-B27F-2C7BD16CC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5562600"/>
            <a:ext cx="3810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8" name="citely-surface">
            <a:extLst xmlns:a="http://schemas.openxmlformats.org/drawingml/2006/main">
              <a:ext uri="{FF2B5EF4-FFF2-40B4-BE49-F238E27FC236}">
                <a16:creationId xmlns:a16="http://schemas.microsoft.com/office/drawing/2014/main" id="{F8C81752-6F2E-4E37-98DE-A45533692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09750"/>
            <a:ext cx="4762500" cy="2724150"/>
          </a:xfrm>
          <a:prstGeom xmlns:a="http://schemas.openxmlformats.org/drawingml/2006/main" prst="roundRect">
            <a:avLst>
              <a:gd name="adj" fmla="val 3497"/>
            </a:avLst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policy-agent-surface">
            <a:extLst xmlns:a="http://schemas.openxmlformats.org/drawingml/2006/main">
              <a:ext uri="{FF2B5EF4-FFF2-40B4-BE49-F238E27FC236}">
                <a16:creationId xmlns:a16="http://schemas.microsoft.com/office/drawing/2014/main" id="{1E28658E-8247-44E3-A854-08E8135A7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1809750"/>
            <a:ext cx="4724400" cy="2724150"/>
          </a:xfrm>
          <a:prstGeom xmlns:a="http://schemas.openxmlformats.org/drawingml/2006/main" prst="roundRect">
            <a:avLst>
              <a:gd name="adj" fmla="val 3497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19050">
            <a:solidFill>
              <a:srgbClr val="3D8D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496449E-883E-49DF-A1F2-7F6DE13C9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76450"/>
            <a:ext cx="21907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5258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525866"/>
                </a:solidFill>
                <a:latin typeface="Helvetica Neue"/>
                <a:ea typeface="Helvetica Neue"/>
                <a:cs typeface="Helvetica Neue"/>
              </a:rPr>
              <a:t>THIN COMMERCIAL LAYER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633F579-8B7A-487C-B638-CE7800B69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71750"/>
            <a:ext cx="3619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Citely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8289CA2-EBCF-41FF-918A-91A5EB254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81350"/>
            <a:ext cx="40005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258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25866"/>
                </a:solidFill>
                <a:latin typeface="Helvetica Neue"/>
                <a:ea typeface="Helvetica Neue"/>
                <a:cs typeface="Helvetica Neue"/>
              </a:rPr>
              <a:t>• Authentication &amp; entitlements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5258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25866"/>
                </a:solidFill>
                <a:latin typeface="Helvetica Neue"/>
                <a:ea typeface="Helvetica Neue"/>
                <a:cs typeface="Helvetica Neue"/>
              </a:rPr>
              <a:t>• Founder intake &amp; confirmation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5258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25866"/>
                </a:solidFill>
                <a:latin typeface="Helvetica Neue"/>
                <a:ea typeface="Helvetica Neue"/>
                <a:cs typeface="Helvetica Neue"/>
              </a:rPr>
              <a:t>• Generic package renderer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5258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25866"/>
                </a:solidFill>
                <a:latin typeface="Helvetica Neue"/>
                <a:ea typeface="Helvetica Neue"/>
                <a:cs typeface="Helvetica Neue"/>
              </a:rPr>
              <a:t>• Billing &amp; delivery history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6C2C3E4-91EA-453B-A1BE-E6F110638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076450"/>
            <a:ext cx="25908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35EB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35EBD"/>
                </a:solidFill>
                <a:latin typeface="Helvetica Neue"/>
                <a:ea typeface="Helvetica Neue"/>
                <a:cs typeface="Helvetica Neue"/>
              </a:rPr>
              <a:t>DOMAIN INTELLIGENCE ENGINE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D316183-D71E-48AD-8473-7682C0540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571750"/>
            <a:ext cx="4000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Stablecoin Policy Agent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329BEC9-1E54-4B98-8663-E39E06E75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181350"/>
            <a:ext cx="40005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258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25866"/>
                </a:solidFill>
                <a:latin typeface="Helvetica Neue"/>
                <a:ea typeface="Helvetica Neue"/>
                <a:cs typeface="Helvetica Neue"/>
              </a:rPr>
              <a:t>• Versioned official-source corpus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5258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25866"/>
                </a:solidFill>
                <a:latin typeface="Helvetica Neue"/>
                <a:ea typeface="Helvetica Neue"/>
                <a:cs typeface="Helvetica Neue"/>
              </a:rPr>
              <a:t>• Deterministic decision rules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5258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25866"/>
                </a:solidFill>
                <a:latin typeface="Helvetica Neue"/>
                <a:ea typeface="Helvetica Neue"/>
                <a:cs typeface="Helvetica Neue"/>
              </a:rPr>
              <a:t>• Evidence RAG after the decision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5258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25866"/>
                </a:solidFill>
                <a:latin typeface="Helvetica Neue"/>
                <a:ea typeface="Helvetica Neue"/>
                <a:cs typeface="Helvetica Neue"/>
              </a:rPr>
              <a:t>• Change-to-action monitoring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05728B0-629F-4B3C-A030-1D1632C84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0383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35EB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35EBD"/>
                </a:solidFill>
                <a:latin typeface="Helvetica Neue"/>
                <a:ea typeface="Helvetica Neue"/>
                <a:cs typeface="Helvetica Neue"/>
              </a:rPr>
              <a:t>SIGNED REQUEST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DE0A69E-F10B-40E3-8A08-3F8E34C51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6479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5258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25866"/>
                </a:solidFill>
                <a:latin typeface="Helvetica Neue"/>
                <a:ea typeface="Helvetica Neue"/>
                <a:cs typeface="Helvetica Neue"/>
              </a:rPr>
              <a:t>confirmed facts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E86BDB7-E6C2-40C6-B583-46A72E82E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363855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IMMUTABLE PACKAGE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2052AB9-9944-487F-BE86-8C4DADCB4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4000500"/>
            <a:ext cx="1943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5258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25866"/>
                </a:solidFill>
                <a:latin typeface="Helvetica Neue"/>
                <a:ea typeface="Helvetica Neue"/>
                <a:cs typeface="Helvetica Neue"/>
              </a:rPr>
              <a:t>result + actions + evidence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CB5F37C-5DCC-4154-8886-144835CFF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577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7C849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7C8493"/>
                </a:solidFill>
                <a:latin typeface="Helvetica Neue"/>
                <a:ea typeface="Helvetica Neue"/>
                <a:cs typeface="Helvetica Neue"/>
              </a:rPr>
              <a:t>EVIDENCE APPROVAL &amp; PUBLICATION LANE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E35ADF2-0722-4374-B9A9-495816920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57800"/>
            <a:ext cx="17907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93AF570-1210-45A0-9A2F-4BC846E2F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39115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7C849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7C8493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BD30ADA-CAE8-4A1D-A23D-F702AAD78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676900"/>
            <a:ext cx="14859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Official</a:t>
            </a:r>
          </a:p>
          <a:p xmlns:a="http://schemas.openxmlformats.org/drawingml/2006/main">
            <a:pPr algn="l">
              <a:buNone/>
              <a:def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sources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C7795B0-4E0F-4E3D-B949-4E4E94F6D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5257800"/>
            <a:ext cx="17907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CC3F11F-2DB3-4EDD-A6BF-D991AF51C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539115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7C849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7C8493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DF72FB9-AB6C-4739-9943-2B93F3933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5676900"/>
            <a:ext cx="14859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Versioned</a:t>
            </a:r>
          </a:p>
          <a:p xmlns:a="http://schemas.openxmlformats.org/drawingml/2006/main">
            <a:pPr algn="l">
              <a:buNone/>
              <a:def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ingestion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B411140-EF37-4AB8-9912-C972F5009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257800"/>
            <a:ext cx="17907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211F885-41E1-49A8-A18F-DBC4421EE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539115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7C849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7C8493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39B3169-4EC8-41E6-8B1D-C1AD36E18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5676900"/>
            <a:ext cx="14859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Machine</a:t>
            </a:r>
          </a:p>
          <a:p xmlns:a="http://schemas.openxmlformats.org/drawingml/2006/main">
            <a:pPr algn="l">
              <a:buNone/>
              <a:def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assurance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4EF26A7-692A-4954-B49E-F0836074F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5257800"/>
            <a:ext cx="17907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4D6"/>
          </a:solidFill>
          <a:ln xmlns:a="http://schemas.openxmlformats.org/drawingml/2006/main" w="9525">
            <a:solidFill>
              <a:srgbClr val="E5B94B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D069B3F-662B-4484-8251-2D2D16345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539115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7C849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7C8493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CE8C189-C61D-4560-A2D4-6EA8AEC19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5676900"/>
            <a:ext cx="14859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Human</a:t>
            </a:r>
          </a:p>
          <a:p xmlns:a="http://schemas.openxmlformats.org/drawingml/2006/main">
            <a:pPr algn="l">
              <a:buNone/>
              <a:def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review gate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50EA7C4-D0AB-4EA7-8DE9-9DFD9BC7D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257800"/>
            <a:ext cx="17907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6137169-4831-4DB9-8A9B-EDECAAD51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539115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35EB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35EBD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0CA175D-E04F-410F-8EEE-F215CAAE5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5676900"/>
            <a:ext cx="14859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Release +</a:t>
            </a:r>
          </a:p>
          <a:p xmlns:a="http://schemas.openxmlformats.org/drawingml/2006/main">
            <a:pPr algn="l">
              <a:buNone/>
              <a:def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monitoring</a:t>
            </a:r>
          </a:p>
        </p:txBody>
      </p:sp>
      <p:sp>
        <p:nvSpPr>
          <p:cNvPr id="36" name="section-2">
            <a:extLst xmlns:a="http://schemas.openxmlformats.org/drawingml/2006/main">
              <a:ext uri="{FF2B5EF4-FFF2-40B4-BE49-F238E27FC236}">
                <a16:creationId xmlns:a16="http://schemas.microsoft.com/office/drawing/2014/main" id="{D9D3A5A7-5A48-4341-A0D6-C07ABFD87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6670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200" b="1">
                <a:solidFill>
                  <a:srgbClr val="7C849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7C8493"/>
                </a:solidFill>
                <a:latin typeface="Helvetica Neue"/>
                <a:ea typeface="Helvetica Neue"/>
                <a:cs typeface="Helvetica Neue"/>
              </a:rPr>
              <a:t>HOW IT WORKS</a:t>
            </a:r>
          </a:p>
        </p:txBody>
      </p:sp>
      <p:sp>
        <p:nvSpPr>
          <p:cNvPr id="37" name="page-2">
            <a:extLst xmlns:a="http://schemas.openxmlformats.org/drawingml/2006/main">
              <a:ext uri="{FF2B5EF4-FFF2-40B4-BE49-F238E27FC236}">
                <a16:creationId xmlns:a16="http://schemas.microsoft.com/office/drawing/2014/main" id="{B5BD8BAF-0E08-42F5-8C25-AA528BCA7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26670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200" b="0">
                <a:solidFill>
                  <a:srgbClr val="7C849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7C8493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94540197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demo-title">
            <a:extLst xmlns:a="http://schemas.openxmlformats.org/drawingml/2006/main">
              <a:ext uri="{FF2B5EF4-FFF2-40B4-BE49-F238E27FC236}">
                <a16:creationId xmlns:a16="http://schemas.microsoft.com/office/drawing/2014/main" id="{6FFC5869-A6BF-4917-AE57-0138640FC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81050"/>
            <a:ext cx="9525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One question in. A versioned decision out.</a:t>
            </a:r>
          </a:p>
        </p:txBody>
      </p:sp>
      <p:sp>
        <p:nvSpPr>
          <p:cNvPr id="2" name="demo-viewport">
            <a:extLst xmlns:a="http://schemas.openxmlformats.org/drawingml/2006/main">
              <a:ext uri="{FF2B5EF4-FFF2-40B4-BE49-F238E27FC236}">
                <a16:creationId xmlns:a16="http://schemas.microsoft.com/office/drawing/2014/main" id="{BEB9AFA8-7BC6-4AF8-AB6C-B7D19CF18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57350"/>
            <a:ext cx="11239500" cy="4610100"/>
          </a:xfrm>
          <a:prstGeom xmlns:a="http://schemas.openxmlformats.org/drawingml/2006/main" prst="roundRect">
            <a:avLst>
              <a:gd name="adj" fmla="val 247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932424-9322-4513-8350-FC86BE101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57350"/>
            <a:ext cx="112395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82B0C2-B68D-48AB-9C92-3392C357E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781175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258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25866"/>
                </a:solidFill>
                <a:latin typeface="Helvetica Neue"/>
                <a:ea typeface="Helvetica Neue"/>
                <a:cs typeface="Helvetica Neue"/>
              </a:rPr>
              <a:t>citely.info/playbook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109077-7180-4DE1-A408-1C41F5E85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752600"/>
            <a:ext cx="34480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35EB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35EBD"/>
                </a:solidFill>
                <a:latin typeface="Helvetica Neue"/>
                <a:ea typeface="Helvetica Neue"/>
                <a:cs typeface="Helvetica Neue"/>
              </a:rPr>
              <a:t>DEMO · STABLECOIN PRE-LISTING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8DA44F-F0D1-4DD7-BA9D-79B3DD07E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192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E3E225-B31E-4C24-B2E3-84DE6EA0C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192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6700"/>
          </a:solidFill>
          <a:ln xmlns:a="http://schemas.openxmlformats.org/drawingml/2006/main" w="0">
            <a:solidFill>
              <a:srgbClr val="9A67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C88B5D-3539-4599-B665-D971EB7B8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8192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804A"/>
          </a:solidFill>
          <a:ln xmlns:a="http://schemas.openxmlformats.org/drawingml/2006/main" w="0">
            <a:solidFill>
              <a:srgbClr val="14804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6668E88-AF7C-47A3-BD6F-AACF4D95E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43150"/>
            <a:ext cx="3714750" cy="3619500"/>
          </a:xfrm>
          <a:prstGeom xmlns:a="http://schemas.openxmlformats.org/drawingml/2006/main" prst="roundRect">
            <a:avLst>
              <a:gd name="adj" fmla="val 2105"/>
            </a:avLst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F6F7F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28478EE-A8DD-4ED7-9BCF-E6FF9F33E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717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Your launch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1BBBB79-6BF1-4BF9-8E5E-CCE4AAC6C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67050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7C849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7C8493"/>
                </a:solidFill>
                <a:latin typeface="Helvetica Neue"/>
                <a:ea typeface="Helvetica Neue"/>
                <a:cs typeface="Helvetica Neue"/>
              </a:rPr>
              <a:t>OPERATOR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BAE518B-FC11-4CE2-817C-743533AE6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Singapore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6377AF1-63C3-4296-91EA-E59195919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95700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7C849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7C8493"/>
                </a:solidFill>
                <a:latin typeface="Helvetica Neue"/>
                <a:ea typeface="Helvetica Neue"/>
                <a:cs typeface="Helvetica Neue"/>
              </a:rPr>
              <a:t>TARGET MARKET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08CAD5C-42AA-44F7-847C-B233247F8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92430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EEA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7AADB39-AB8D-4A72-94AC-C78B6B776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24350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7C849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7C8493"/>
                </a:solidFill>
                <a:latin typeface="Helvetica Neue"/>
                <a:ea typeface="Helvetica Neue"/>
                <a:cs typeface="Helvetica Neue"/>
              </a:rPr>
              <a:t>ASSET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54886BA-0776-4F9D-A9CC-7713BF9DD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5295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USDC · Base + Ethereum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ECDDAE1-DD15-4672-923D-DCA5CFBD9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953000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7C849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7C8493"/>
                </a:solidFill>
                <a:latin typeface="Helvetica Neue"/>
                <a:ea typeface="Helvetica Neue"/>
                <a:cs typeface="Helvetica Neue"/>
              </a:rPr>
              <a:t>ACTIVITIES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ABBCD23-87D8-4F69-BC42-0F8A09C1B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18160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List for trading · Custody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941FF3A-D0CC-4575-8A55-E280F4F13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486400"/>
            <a:ext cx="20002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RUN PLAYBOOK  →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4932621-D66B-4490-B493-E4C3F602F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2400300"/>
            <a:ext cx="485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Stablecoin Pre-listing &amp; Product Launch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0925A9D-6EB4-4DA5-A6F3-38C3860F0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2381250"/>
            <a:ext cx="16002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4D6"/>
          </a:solidFill>
          <a:ln xmlns:a="http://schemas.openxmlformats.org/drawingml/2006/main" w="9525">
            <a:solidFill>
              <a:srgbClr val="E5B94B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9A67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9A6700"/>
                </a:solidFill>
                <a:latin typeface="Helvetica Neue"/>
                <a:ea typeface="Helvetica Neue"/>
                <a:cs typeface="Helvetica Neue"/>
              </a:rPr>
              <a:t>PROVISIONAL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A815BD7-0EE6-42E8-9B69-ADE033B6B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2990850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7C849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7C8493"/>
                </a:solidFill>
                <a:latin typeface="Helvetica Neue"/>
                <a:ea typeface="Helvetica Neue"/>
                <a:cs typeface="Helvetica Neue"/>
              </a:rPr>
              <a:t>Capability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E9A3616-8BDA-453C-B07F-A5DE191C3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9908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7C849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7C8493"/>
                </a:solidFill>
                <a:latin typeface="Helvetica Neue"/>
                <a:ea typeface="Helvetica Neue"/>
                <a:cs typeface="Helvetica Neue"/>
              </a:rPr>
              <a:t>Decision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7A3A3C3-FD04-4D4C-81A0-F3CF7B754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99085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7C849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7C8493"/>
                </a:solidFill>
                <a:latin typeface="Helvetica Neue"/>
                <a:ea typeface="Helvetica Neue"/>
                <a:cs typeface="Helvetica Neue"/>
              </a:rPr>
              <a:t>Next action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455D32D-F138-4007-A269-BDBA19699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3295650"/>
            <a:ext cx="6648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C2DA016-B2AF-44A1-96AB-DDAE78867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3486150"/>
            <a:ext cx="238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Admit USDC to trading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8D11991-96E5-4E9B-9A2B-C34FF79A7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486150"/>
            <a:ext cx="13716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35EB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35EBD"/>
                </a:solidFill>
                <a:latin typeface="Helvetica Neue"/>
                <a:ea typeface="Helvetica Neue"/>
                <a:cs typeface="Helvetica Neue"/>
              </a:rPr>
              <a:t>CONDITIONAL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6A423F3-7B7B-446F-BA0A-3DCFE2C4E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486150"/>
            <a:ext cx="2171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258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25866"/>
                </a:solidFill>
                <a:latin typeface="Helvetica Neue"/>
                <a:ea typeface="Helvetica Neue"/>
                <a:cs typeface="Helvetica Neue"/>
              </a:rPr>
              <a:t>Confirm CASP authorization scope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8E4DA2C-88FD-4ED1-84CE-C79B42ABA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4133850"/>
            <a:ext cx="6648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DEDED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2493742-17B8-49F5-B432-81296642D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4324350"/>
            <a:ext cx="238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Custody USDC for clients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C08E2B2-FDED-47A2-8B89-324A6321A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324350"/>
            <a:ext cx="13716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35EB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35EBD"/>
                </a:solidFill>
                <a:latin typeface="Helvetica Neue"/>
                <a:ea typeface="Helvetica Neue"/>
                <a:cs typeface="Helvetica Neue"/>
              </a:rPr>
              <a:t>CONDITIONAL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5C455CA-5A29-4C1C-8426-47F286B77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4324350"/>
            <a:ext cx="2171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258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25866"/>
                </a:solidFill>
                <a:latin typeface="Helvetica Neue"/>
                <a:ea typeface="Helvetica Neue"/>
                <a:cs typeface="Helvetica Neue"/>
              </a:rPr>
              <a:t>Confirm custody + segregation controls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AD3C003-EC6D-44C8-A1CE-7E0A3F1E3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4972050"/>
            <a:ext cx="6648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DEDED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AD46148-D5D6-4FAD-9AE8-027A110F0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5257800"/>
            <a:ext cx="6648450" cy="5524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D0EDFA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694E47E-455B-4226-AACA-2B1BD4FF7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5429250"/>
            <a:ext cx="1200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35EB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35EBD"/>
                </a:solidFill>
                <a:latin typeface="Helvetica Neue"/>
                <a:ea typeface="Helvetica Neue"/>
                <a:cs typeface="Helvetica Neue"/>
              </a:rPr>
              <a:t>EVIDENCE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A20311A-B5FE-4C7D-BD24-A90B48309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410200"/>
            <a:ext cx="4991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MiCA Article 59 · USDC EEA dossier · corpus / rules / template versions pinned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07B47EB-570F-442F-8379-95C12DD45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5905500"/>
            <a:ext cx="6648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200" b="0">
                <a:solidFill>
                  <a:srgbClr val="7C849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7C8493"/>
                </a:solidFill>
                <a:latin typeface="Helvetica Neue"/>
                <a:ea typeface="Helvetica Neue"/>
                <a:cs typeface="Helvetica Neue"/>
              </a:rPr>
              <a:t>Machine-assured research for operational preparation — not human-reviewed legal advice.</a:t>
            </a:r>
          </a:p>
        </p:txBody>
      </p:sp>
      <p:sp>
        <p:nvSpPr>
          <p:cNvPr id="38" name="section-3">
            <a:extLst xmlns:a="http://schemas.openxmlformats.org/drawingml/2006/main">
              <a:ext uri="{FF2B5EF4-FFF2-40B4-BE49-F238E27FC236}">
                <a16:creationId xmlns:a16="http://schemas.microsoft.com/office/drawing/2014/main" id="{0C5BECA5-5204-4EC7-A21A-AFE74411A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6670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200" b="1">
                <a:solidFill>
                  <a:srgbClr val="7C849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7C8493"/>
                </a:solidFill>
                <a:latin typeface="Helvetica Neue"/>
                <a:ea typeface="Helvetica Neue"/>
                <a:cs typeface="Helvetica Neue"/>
              </a:rPr>
              <a:t>PRODUCT DEMO</a:t>
            </a:r>
          </a:p>
        </p:txBody>
      </p:sp>
      <p:sp>
        <p:nvSpPr>
          <p:cNvPr id="39" name="page-3">
            <a:extLst xmlns:a="http://schemas.openxmlformats.org/drawingml/2006/main">
              <a:ext uri="{FF2B5EF4-FFF2-40B4-BE49-F238E27FC236}">
                <a16:creationId xmlns:a16="http://schemas.microsoft.com/office/drawing/2014/main" id="{B9C46A33-E6A8-41A6-9FE7-520301E62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26670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200" b="0">
                <a:solidFill>
                  <a:srgbClr val="7C849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7C8493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49533166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roadmap-title">
            <a:extLst xmlns:a="http://schemas.openxmlformats.org/drawingml/2006/main">
              <a:ext uri="{FF2B5EF4-FFF2-40B4-BE49-F238E27FC236}">
                <a16:creationId xmlns:a16="http://schemas.microsoft.com/office/drawing/2014/main" id="{4C5107FE-D9D2-494A-972B-B20E4A742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81050"/>
            <a:ext cx="10668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Stablecoin is the wedge. Citely is the marketplace.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0EF869-0282-45D5-816D-57CA0AC93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28750"/>
            <a:ext cx="990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258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25866"/>
                </a:solidFill>
                <a:latin typeface="Helvetica Neue"/>
                <a:ea typeface="Helvetica Neue"/>
                <a:cs typeface="Helvetica Neue"/>
              </a:rPr>
              <a:t>Expand by policy domain — without duplicating the evidence, identity or delivery infrastructure.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E620C0-33C8-4811-A1A4-748407083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714750"/>
            <a:ext cx="9677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1E9B4D-73C8-45EB-874F-07B48C999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3629025"/>
            <a:ext cx="4381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61CCC8-9327-4E2E-AC59-FDDC6B61A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52650"/>
            <a:ext cx="308610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19050">
            <a:solidFill>
              <a:srgbClr val="3D8D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C2FD41-FE84-4307-B038-218AC6DC2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431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35EB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35EBD"/>
                </a:solidFill>
                <a:latin typeface="Helvetica Neue"/>
                <a:ea typeface="Helvetica Neue"/>
                <a:cs typeface="Helvetica Neue"/>
              </a:rPr>
              <a:t>NOW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92573F-3851-4079-98AD-58CC40158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4795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Stablecoin Policy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33C8EAE-483F-455E-8E68-BD5CB89BB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71800"/>
            <a:ext cx="266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258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25866"/>
                </a:solidFill>
                <a:latin typeface="Helvetica Neue"/>
                <a:ea typeface="Helvetica Neue"/>
                <a:cs typeface="Helvetica Neue"/>
              </a:rPr>
              <a:t>Payments, listings, custody and launch playbooks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55A36D7-43AC-4B66-AD83-94ED180F6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36290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45E963-B1D5-4644-9965-6D0DCF563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152650"/>
            <a:ext cx="308610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049DD5A-C227-4936-93B1-438A13623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3431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7C849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7C8493"/>
                </a:solidFill>
                <a:latin typeface="Helvetica Neue"/>
                <a:ea typeface="Helvetica Neue"/>
                <a:cs typeface="Helvetica Neue"/>
              </a:rPr>
              <a:t>NEXT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72DA0D5-C15D-413E-BDF7-87C91F032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64795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AI Policy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A284F22-92E0-45A8-BD32-6A016792D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971800"/>
            <a:ext cx="266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258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25866"/>
                </a:solidFill>
                <a:latin typeface="Helvetica Neue"/>
                <a:ea typeface="Helvetica Neue"/>
                <a:cs typeface="Helvetica Neue"/>
              </a:rPr>
              <a:t>Models, data, deployment and market-entry playbooks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C5EE66D-BCB3-442E-A280-54FEDA831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36290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1ACD2C8-2265-47EE-AE53-320DE8477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152650"/>
            <a:ext cx="308610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7E2AF78-61F0-49DD-A367-BD7096221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3431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7C849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7C8493"/>
                </a:solidFill>
                <a:latin typeface="Helvetica Neue"/>
                <a:ea typeface="Helvetica Neue"/>
                <a:cs typeface="Helvetica Neue"/>
              </a:rPr>
              <a:t>EXPAND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C346348-B812-4CAB-A71B-C817015B9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64795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Web3 Policy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1B801FE-F9C6-4840-9CF1-FEB3C3DA2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971800"/>
            <a:ext cx="266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258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25866"/>
                </a:solidFill>
                <a:latin typeface="Helvetica Neue"/>
                <a:ea typeface="Helvetica Neue"/>
                <a:cs typeface="Helvetica Neue"/>
              </a:rPr>
              <a:t>Protocols, tokens and onchain business-model playbooks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0C9D7EE-9901-4457-AE92-19BC0A7BC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36290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A746573-DB33-4D19-97C3-E55B639F7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7C849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7C8493"/>
                </a:solidFill>
                <a:latin typeface="Helvetica Neue"/>
                <a:ea typeface="Helvetica Neue"/>
                <a:cs typeface="Helvetica Neue"/>
              </a:rPr>
              <a:t>ONE SHARED FOUNDATION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F52837C-ED1F-406C-ADA4-409FFE9E0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91050"/>
            <a:ext cx="107823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AA629A0-6C36-40D2-B916-EAEA85BF2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38700"/>
            <a:ext cx="10210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Official sources  +  versioned claims  +  review gates  +  evidence RAG  +  monitoring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FDC7559-A8BE-430F-92B5-C33904D50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829300"/>
            <a:ext cx="10782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135EB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135EBD"/>
                </a:solidFill>
                <a:latin typeface="Helvetica Neue"/>
                <a:ea typeface="Helvetica Neue"/>
                <a:cs typeface="Helvetica Neue"/>
              </a:rPr>
              <a:t>One founder profile  →  multiple policy agents  →  one action workspace</a:t>
            </a:r>
          </a:p>
        </p:txBody>
      </p:sp>
      <p:sp>
        <p:nvSpPr>
          <p:cNvPr id="24" name="section-4">
            <a:extLst xmlns:a="http://schemas.openxmlformats.org/drawingml/2006/main">
              <a:ext uri="{FF2B5EF4-FFF2-40B4-BE49-F238E27FC236}">
                <a16:creationId xmlns:a16="http://schemas.microsoft.com/office/drawing/2014/main" id="{82E9BA3D-0454-4323-9941-76E5F0B4C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6670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200" b="1">
                <a:solidFill>
                  <a:srgbClr val="7C849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7C8493"/>
                </a:solidFill>
                <a:latin typeface="Helvetica Neue"/>
                <a:ea typeface="Helvetica Neue"/>
                <a:cs typeface="Helvetica Neue"/>
              </a:rPr>
              <a:t>ROADMAP</a:t>
            </a:r>
          </a:p>
        </p:txBody>
      </p:sp>
      <p:sp>
        <p:nvSpPr>
          <p:cNvPr id="25" name="page-4">
            <a:extLst xmlns:a="http://schemas.openxmlformats.org/drawingml/2006/main">
              <a:ext uri="{FF2B5EF4-FFF2-40B4-BE49-F238E27FC236}">
                <a16:creationId xmlns:a16="http://schemas.microsoft.com/office/drawing/2014/main" id="{3A0E6C02-898A-44B6-9BA1-CB4770951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26670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200" b="0">
                <a:solidFill>
                  <a:srgbClr val="7C849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7C8493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10753852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2026-08-13T19:50:11.8180000Z</dcterms:created>
  <dcterms:modified xsi:type="dcterms:W3CDTF">2026-08-13T19:50:11.8180000Z</dcterms:modified>
</coreProperties>
</file>